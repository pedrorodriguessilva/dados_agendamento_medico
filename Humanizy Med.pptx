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TC Benguiat" charset="1" panose="02030603050306020704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9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9657" y="906892"/>
            <a:ext cx="9948687" cy="199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13999">
                <a:solidFill>
                  <a:srgbClr val="06641B"/>
                </a:solidFill>
                <a:latin typeface="ITC Benguiat"/>
                <a:ea typeface="ITC Benguiat"/>
                <a:cs typeface="ITC Benguiat"/>
                <a:sym typeface="ITC Benguiat"/>
              </a:rPr>
              <a:t>HUMANIZY</a:t>
            </a:r>
          </a:p>
          <a:p>
            <a:pPr algn="ctr">
              <a:lnSpc>
                <a:spcPts val="12599"/>
              </a:lnSpc>
            </a:pPr>
            <a:r>
              <a:rPr lang="en-US" sz="13999">
                <a:solidFill>
                  <a:srgbClr val="06641B"/>
                </a:solidFill>
                <a:latin typeface="ITC Benguiat"/>
                <a:ea typeface="ITC Benguiat"/>
                <a:cs typeface="ITC Benguiat"/>
                <a:sym typeface="ITC Benguiat"/>
              </a:rPr>
              <a:t>MED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91173" y="4250790"/>
            <a:ext cx="11905655" cy="211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A RELAÇÃO ENTRE A BAIXA ESCOLARIDADE</a:t>
            </a:r>
          </a:p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E A DICIFULDADE EM REALIZAR AGENDAMENTOS 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MÉDICOS ONLINE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79068" y="4865788"/>
            <a:ext cx="6902006" cy="5421212"/>
          </a:xfrm>
          <a:custGeom>
            <a:avLst/>
            <a:gdLst/>
            <a:ahLst/>
            <a:cxnLst/>
            <a:rect r="r" b="b" t="t" l="l"/>
            <a:pathLst>
              <a:path h="5421212" w="6902006">
                <a:moveTo>
                  <a:pt x="0" y="0"/>
                </a:moveTo>
                <a:lnTo>
                  <a:pt x="6902005" y="0"/>
                </a:lnTo>
                <a:lnTo>
                  <a:pt x="6902005" y="5421212"/>
                </a:lnTo>
                <a:lnTo>
                  <a:pt x="0" y="5421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73161">
            <a:off x="970732" y="-491482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6" y="0"/>
                </a:lnTo>
                <a:lnTo>
                  <a:pt x="2564516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828" y="5772789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0" y="0"/>
                </a:lnTo>
                <a:lnTo>
                  <a:pt x="221318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882038" y="-821078"/>
            <a:ext cx="8523924" cy="11929156"/>
          </a:xfrm>
          <a:custGeom>
            <a:avLst/>
            <a:gdLst/>
            <a:ahLst/>
            <a:cxnLst/>
            <a:rect r="r" b="b" t="t" l="l"/>
            <a:pathLst>
              <a:path h="11929156" w="8523924">
                <a:moveTo>
                  <a:pt x="8523924" y="0"/>
                </a:moveTo>
                <a:lnTo>
                  <a:pt x="0" y="0"/>
                </a:lnTo>
                <a:lnTo>
                  <a:pt x="0" y="11929156"/>
                </a:lnTo>
                <a:lnTo>
                  <a:pt x="8523924" y="11929156"/>
                </a:lnTo>
                <a:lnTo>
                  <a:pt x="85239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64182" y="181302"/>
            <a:ext cx="8658107" cy="991756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495826" y="2716438"/>
            <a:ext cx="4090993" cy="478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sz="34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BRASIL AINDA APRESENTA 9,1 MILHÕES DE ANALFABETOS, CORRESPONDENDO A 5,3% DA POPULAÇÃO COM 15 ANOS OU MAIS.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4882038" y="-821078"/>
            <a:ext cx="8523924" cy="11929156"/>
          </a:xfrm>
          <a:custGeom>
            <a:avLst/>
            <a:gdLst/>
            <a:ahLst/>
            <a:cxnLst/>
            <a:rect r="r" b="b" t="t" l="l"/>
            <a:pathLst>
              <a:path h="11929156" w="8523924">
                <a:moveTo>
                  <a:pt x="8523924" y="0"/>
                </a:moveTo>
                <a:lnTo>
                  <a:pt x="0" y="0"/>
                </a:lnTo>
                <a:lnTo>
                  <a:pt x="0" y="11929156"/>
                </a:lnTo>
                <a:lnTo>
                  <a:pt x="8523924" y="11929156"/>
                </a:lnTo>
                <a:lnTo>
                  <a:pt x="85239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478149" y="1785236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828" y="5772789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0" y="0"/>
                </a:lnTo>
                <a:lnTo>
                  <a:pt x="221318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73161">
            <a:off x="14278350" y="4870701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7" y="0"/>
                </a:lnTo>
                <a:lnTo>
                  <a:pt x="2564517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00025" y="3745230"/>
            <a:ext cx="18155841" cy="203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FONTES: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IBGE (2024): SÍNTESE DE INDICADORES SOCIAIS.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IMDS (2023): RELATÓRIOS SOBRE MOBILIDADE SOCIAL E EDUCAÇÃO NO BRASIL.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32220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1" y="0"/>
                </a:lnTo>
                <a:lnTo>
                  <a:pt x="2213181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73161">
            <a:off x="970732" y="-491482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6" y="0"/>
                </a:lnTo>
                <a:lnTo>
                  <a:pt x="2564516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3238725" y="-3601073"/>
            <a:ext cx="11064203" cy="15484253"/>
          </a:xfrm>
          <a:custGeom>
            <a:avLst/>
            <a:gdLst/>
            <a:ahLst/>
            <a:cxnLst/>
            <a:rect r="r" b="b" t="t" l="l"/>
            <a:pathLst>
              <a:path h="15484253" w="11064203">
                <a:moveTo>
                  <a:pt x="11064203" y="0"/>
                </a:moveTo>
                <a:lnTo>
                  <a:pt x="0" y="0"/>
                </a:lnTo>
                <a:lnTo>
                  <a:pt x="0" y="15484254"/>
                </a:lnTo>
                <a:lnTo>
                  <a:pt x="11064203" y="15484254"/>
                </a:lnTo>
                <a:lnTo>
                  <a:pt x="110642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87830"/>
            <a:ext cx="14846228" cy="68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CONSEQUÊNCIAS SOCIAIS E ECONÔMICAS:</a:t>
            </a:r>
          </a:p>
          <a:p>
            <a:pPr algn="l" marL="842016" indent="-421008" lvl="1">
              <a:lnSpc>
                <a:spcPts val="5460"/>
              </a:lnSpc>
              <a:spcBef>
                <a:spcPct val="0"/>
              </a:spcBef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BAIXA ESCOLARIDADE REDUZ OPORTUNIDADES DE EMPREGO E RENDA.</a:t>
            </a:r>
          </a:p>
          <a:p>
            <a:pPr algn="l" marL="842016" indent="-421008" lvl="1">
              <a:lnSpc>
                <a:spcPts val="5460"/>
              </a:lnSpc>
              <a:spcBef>
                <a:spcPct val="0"/>
              </a:spcBef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DIFICULTA O USO DE TECNOLOGIAS, INCLUSIVE O ACESSO A SERVIÇOS DIGITAIS DE SAÚDE.</a:t>
            </a:r>
          </a:p>
          <a:p>
            <a:pPr algn="l" marL="842016" indent="-421008" lvl="1">
              <a:lnSpc>
                <a:spcPts val="5460"/>
              </a:lnSpc>
              <a:spcBef>
                <a:spcPct val="0"/>
              </a:spcBef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APENAS 4,7% DOS FILHOS DE PAIS SEM ESCOLARIDADE CONCLUEM O ENSINO SUPERIOR.</a:t>
            </a:r>
          </a:p>
          <a:p>
            <a:pPr algn="l" marL="842016" indent="-421008" lvl="1">
              <a:lnSpc>
                <a:spcPts val="5460"/>
              </a:lnSpc>
              <a:spcBef>
                <a:spcPct val="0"/>
              </a:spcBef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CUSTO SOCIAL DA EVASÃO ESCOLAR É ESTIMADO EM R$ 372 MIL POR PESSOA, CONSIDERANDO PERDAS DE PRODUTIVIDADE E RENDA.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73161">
            <a:off x="14278350" y="4870701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7" y="0"/>
                </a:lnTo>
                <a:lnTo>
                  <a:pt x="2564517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40968" y="3790608"/>
            <a:ext cx="12806065" cy="203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FONTES: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IMDS (2023): MOBILIDADE E EDUCAÇÃO NO BRASIL.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IBGE (2024): RELATÓRIO DE INDICADORES DE EDUCAÇÃO.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32220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1" y="0"/>
                </a:lnTo>
                <a:lnTo>
                  <a:pt x="2213181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73161">
            <a:off x="970732" y="-491482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6" y="0"/>
                </a:lnTo>
                <a:lnTo>
                  <a:pt x="2564516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828" y="5772789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0" y="0"/>
                </a:lnTo>
                <a:lnTo>
                  <a:pt x="221318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882038" y="-821078"/>
            <a:ext cx="8523924" cy="11929156"/>
          </a:xfrm>
          <a:custGeom>
            <a:avLst/>
            <a:gdLst/>
            <a:ahLst/>
            <a:cxnLst/>
            <a:rect r="r" b="b" t="t" l="l"/>
            <a:pathLst>
              <a:path h="11929156" w="8523924">
                <a:moveTo>
                  <a:pt x="8523924" y="0"/>
                </a:moveTo>
                <a:lnTo>
                  <a:pt x="0" y="0"/>
                </a:lnTo>
                <a:lnTo>
                  <a:pt x="0" y="11929156"/>
                </a:lnTo>
                <a:lnTo>
                  <a:pt x="8523924" y="11929156"/>
                </a:lnTo>
                <a:lnTo>
                  <a:pt x="85239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62505" y="811244"/>
            <a:ext cx="8461461" cy="873769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495826" y="1258364"/>
            <a:ext cx="4090993" cy="788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272" indent="-271136" lvl="1">
              <a:lnSpc>
                <a:spcPts val="351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APROXIMADAMENTE 80% DOS BRASILEIROS TÊM ACESSO À INTERNET.</a:t>
            </a:r>
          </a:p>
          <a:p>
            <a:pPr algn="l" marL="542272" indent="-271136" lvl="1">
              <a:lnSpc>
                <a:spcPts val="351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ontudo, apenas 53% da população rural está conectada.</a:t>
            </a:r>
          </a:p>
          <a:p>
            <a:pPr algn="l" marL="542272" indent="-271136" lvl="1">
              <a:lnSpc>
                <a:spcPts val="351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acesso varia fortemente com a escolaridade e renda:</a:t>
            </a:r>
          </a:p>
          <a:p>
            <a:pPr algn="l" marL="542272" indent="-271136" lvl="1">
              <a:lnSpc>
                <a:spcPts val="351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ulheres sem escolaridade: 32% com acesso à internet.</a:t>
            </a:r>
          </a:p>
          <a:p>
            <a:pPr algn="l" marL="542272" indent="-271136" lvl="1">
              <a:lnSpc>
                <a:spcPts val="351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ulheres com ensino superior: 97% com acesso.</a:t>
            </a:r>
          </a:p>
          <a:p>
            <a:pPr algn="l">
              <a:lnSpc>
                <a:spcPts val="35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73161">
            <a:off x="14278350" y="4870701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7" y="0"/>
                </a:lnTo>
                <a:lnTo>
                  <a:pt x="2564517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41365" y="3790608"/>
            <a:ext cx="11205270" cy="272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FONTES: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OPAS (2023): INCLUSÃO DIGITAL E SAÚDE.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BID (2023): USO DE SERVIÇOS PÚBLICOS DIGITAIS. 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⁠CETIC.BR (2023): PESQUISA TIC DOMICÍLIOS.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32220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1" y="0"/>
                </a:lnTo>
                <a:lnTo>
                  <a:pt x="2213181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73161">
            <a:off x="970732" y="-491482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6" y="0"/>
                </a:lnTo>
                <a:lnTo>
                  <a:pt x="2564516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3238725" y="-3601073"/>
            <a:ext cx="11064203" cy="15484253"/>
          </a:xfrm>
          <a:custGeom>
            <a:avLst/>
            <a:gdLst/>
            <a:ahLst/>
            <a:cxnLst/>
            <a:rect r="r" b="b" t="t" l="l"/>
            <a:pathLst>
              <a:path h="15484253" w="11064203">
                <a:moveTo>
                  <a:pt x="11064203" y="0"/>
                </a:moveTo>
                <a:lnTo>
                  <a:pt x="0" y="0"/>
                </a:lnTo>
                <a:lnTo>
                  <a:pt x="0" y="15484254"/>
                </a:lnTo>
                <a:lnTo>
                  <a:pt x="11064203" y="15484254"/>
                </a:lnTo>
                <a:lnTo>
                  <a:pt x="110642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87830"/>
            <a:ext cx="14846228" cy="820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RESULTADOS DE PESQUISAS: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studo em 42 unidades de saúde brasileiras mostrou: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89 agendamentos online contra 3,2 milhões      presenciais.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0% dos usuários avaliaram negativamente o sistema digital.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rincipais motivos apontados: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ificuldade de uso das plataformas.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alta de acesso à internet em casa.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referência por atendimento presencial.</a:t>
            </a:r>
          </a:p>
          <a:p>
            <a:pPr algn="l">
              <a:lnSpc>
                <a:spcPts val="5460"/>
              </a:lnSpc>
            </a:pPr>
          </a:p>
          <a:p>
            <a:pPr algn="l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73161">
            <a:off x="14278350" y="4870701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7" y="0"/>
                </a:lnTo>
                <a:lnTo>
                  <a:pt x="2564517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429" y="3790608"/>
            <a:ext cx="17273141" cy="272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FONTES: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SCIELO (2021): ESTUDO SOBRE AGENDAMENTO ONLINE NA ATENÇÃO PRIMÁRIA.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MDPI (2022): PERCEPÇÃO DOS USUÁRIOS DE SISTEMAS DIGITAIS DE SAÚDE.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32220"/>
            <a:ext cx="2213181" cy="2926080"/>
          </a:xfrm>
          <a:custGeom>
            <a:avLst/>
            <a:gdLst/>
            <a:ahLst/>
            <a:cxnLst/>
            <a:rect r="r" b="b" t="t" l="l"/>
            <a:pathLst>
              <a:path h="2926080" w="2213181">
                <a:moveTo>
                  <a:pt x="0" y="0"/>
                </a:moveTo>
                <a:lnTo>
                  <a:pt x="2213181" y="0"/>
                </a:lnTo>
                <a:lnTo>
                  <a:pt x="2213181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73161">
            <a:off x="970732" y="-491482"/>
            <a:ext cx="2564516" cy="5849118"/>
          </a:xfrm>
          <a:custGeom>
            <a:avLst/>
            <a:gdLst/>
            <a:ahLst/>
            <a:cxnLst/>
            <a:rect r="r" b="b" t="t" l="l"/>
            <a:pathLst>
              <a:path h="5849118" w="2564516">
                <a:moveTo>
                  <a:pt x="0" y="0"/>
                </a:moveTo>
                <a:lnTo>
                  <a:pt x="2564516" y="0"/>
                </a:lnTo>
                <a:lnTo>
                  <a:pt x="2564516" y="5849118"/>
                </a:lnTo>
                <a:lnTo>
                  <a:pt x="0" y="58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3238725" y="-3601073"/>
            <a:ext cx="11064203" cy="15484253"/>
          </a:xfrm>
          <a:custGeom>
            <a:avLst/>
            <a:gdLst/>
            <a:ahLst/>
            <a:cxnLst/>
            <a:rect r="r" b="b" t="t" l="l"/>
            <a:pathLst>
              <a:path h="15484253" w="11064203">
                <a:moveTo>
                  <a:pt x="11064203" y="0"/>
                </a:moveTo>
                <a:lnTo>
                  <a:pt x="0" y="0"/>
                </a:lnTo>
                <a:lnTo>
                  <a:pt x="0" y="15484254"/>
                </a:lnTo>
                <a:lnTo>
                  <a:pt x="11064203" y="15484254"/>
                </a:lnTo>
                <a:lnTo>
                  <a:pt x="110642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37464">
            <a:off x="14890736" y="-215589"/>
            <a:ext cx="3369692" cy="3062208"/>
          </a:xfrm>
          <a:custGeom>
            <a:avLst/>
            <a:gdLst/>
            <a:ahLst/>
            <a:cxnLst/>
            <a:rect r="r" b="b" t="t" l="l"/>
            <a:pathLst>
              <a:path h="3062208" w="3369692">
                <a:moveTo>
                  <a:pt x="0" y="0"/>
                </a:moveTo>
                <a:lnTo>
                  <a:pt x="3369692" y="0"/>
                </a:lnTo>
                <a:lnTo>
                  <a:pt x="3369692" y="3062207"/>
                </a:lnTo>
                <a:lnTo>
                  <a:pt x="0" y="30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7603" y="3059430"/>
            <a:ext cx="14846228" cy="409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CONCLUSÃO GERAL: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baixa escolaridade está diretamente relacionada à exclusão digital.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agendamento médico digital ainda é inacessível para milhões de brasileiros com pouca escolaridade.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DAG4WEz2iGA</dc:identifier>
  <dcterms:modified xsi:type="dcterms:W3CDTF">2011-08-01T06:04:30Z</dcterms:modified>
  <cp:revision>1</cp:revision>
  <dc:title>Humanizy Med</dc:title>
</cp:coreProperties>
</file>